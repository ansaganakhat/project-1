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YOLOv5</c:v>
                </c:pt>
                <c:pt idx="1">
                  <c:v>YOLOv10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0.995</c:v>
                </c:pt>
                <c:pt idx="1">
                  <c:v>0.993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mAP50-95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YOLOv5</c:v>
                </c:pt>
                <c:pt idx="1">
                  <c:v>YOLOv10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0.871</c:v>
                </c:pt>
                <c:pt idx="1">
                  <c:v>0.941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0695" cy="164592"/>
          </a:xfrm>
          <a:prstGeom prst="rect">
            <a:avLst/>
          </a:prstGeom>
          <a:solidFill>
            <a:srgbClr val="498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SMART VISION</a:t>
            </a:r>
          </a:p>
          <a:p>
            <a:pPr>
              <a:defRPr sz="2500">
                <a:solidFill>
                  <a:srgbClr val="BEE1F8"/>
                </a:solidFill>
                <a:latin typeface="Aptos"/>
              </a:defRPr>
            </a:pPr>
            <a:r>
              <a:t>YOLOv5 және YOLOv10 негізіндегі жол объектілерін анықтау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Финалдық машиналық оқыту жобасы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Классикалық ML + Deep Learning салыстыруы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Автор: Ахат Аңсаған Қойшанұлы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854"/>
                </a:solidFill>
                <a:latin typeface="Aptos Display"/>
              </a:defRPr>
            </a:pPr>
            <a:r>
              <a:t>1. Бизнес міндет және мақсат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Міндет: жолдағы көлік, адам, велосипед және жол белгілерін нақты уақытта анықтау.</a:t>
            </a:r>
          </a:p>
          <a:p>
            <a:pPr>
              <a:spcAft>
                <a:spcPts val="10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Бизнес құндылығы: жүргізушіні қауіпті жағдай туралы ерте ескерту және жол қауіпсіздігін арттыру.</a:t>
            </a:r>
          </a:p>
          <a:p>
            <a:pPr>
              <a:spcAft>
                <a:spcPts val="1000"/>
              </a:spcAft>
              <a:defRPr sz="2000">
                <a:solidFill>
                  <a:srgbClr val="1C2026"/>
                </a:solidFill>
                <a:latin typeface="Aptos"/>
              </a:defRPr>
            </a:pPr>
            <a:r>
              <a:t>Негізгі KPI: қауіпті объектілерді өткізіп алмау, жалған ескертулерді азайту, төмен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25880"/>
            <a:ext cx="3931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490472"/>
            <a:ext cx="3474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E8C5A"/>
                </a:solidFill>
              </a:defRPr>
            </a:pPr>
            <a:r>
              <a:t>Recall</a:t>
            </a:r>
          </a:p>
          <a:p>
            <a:pPr>
              <a:defRPr sz="1300">
                <a:solidFill>
                  <a:srgbClr val="1C2026"/>
                </a:solidFill>
              </a:defRPr>
            </a:pPr>
            <a:r>
              <a:t>Қауіпті объектіні өткізіп алмау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743200"/>
            <a:ext cx="3931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907792"/>
            <a:ext cx="3474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C4D8D"/>
                </a:solidFill>
              </a:defRPr>
            </a:pPr>
            <a:r>
              <a:t>Precision</a:t>
            </a:r>
          </a:p>
          <a:p>
            <a:pPr>
              <a:defRPr sz="1300">
                <a:solidFill>
                  <a:srgbClr val="1C2026"/>
                </a:solidFill>
              </a:defRPr>
            </a:pPr>
            <a:r>
              <a:t>Жалған ескертуді азайту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160520"/>
            <a:ext cx="3931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4325112"/>
            <a:ext cx="3474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E6872D"/>
                </a:solidFill>
              </a:defRPr>
            </a:pPr>
            <a:r>
              <a:t>FPS</a:t>
            </a:r>
          </a:p>
          <a:p>
            <a:pPr>
              <a:defRPr sz="1300">
                <a:solidFill>
                  <a:srgbClr val="1C2026"/>
                </a:solidFill>
              </a:defRPr>
            </a:pPr>
            <a:r>
              <a:t>Нақты уақыттағы жұмыс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988C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854"/>
                </a:solidFill>
                <a:latin typeface="Aptos Display"/>
              </a:defRPr>
            </a:pPr>
            <a:r>
              <a:t>2. Екі модель — екі бөлек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C4D8D"/>
                </a:solidFill>
                <a:latin typeface="Aptos"/>
              </a:defRPr>
            </a:pPr>
            <a:r>
              <a:t>YOLOv10 dataset көлемі және класс саны бойынша кеңейтілген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389120"/>
          </a:xfrm>
          <a:prstGeom prst="roundRect">
            <a:avLst/>
          </a:prstGeom>
          <a:solidFill>
            <a:srgbClr val="ECF5FC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C4D8D"/>
                </a:solidFill>
              </a:defRPr>
            </a:pPr>
            <a:r>
              <a:t>YOLOv5 — бастапқы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Суреттер саны аздау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Класс саны аздау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Жеңіл модель, жылдам inference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Өз validation dataset-імен бағаланады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ECF5FC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1691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E8C5A"/>
                </a:solidFill>
              </a:defRPr>
            </a:pPr>
            <a:r>
              <a:t>YOLOv10 — кеңейтілген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3317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Train және val папкалары бөлек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Суреттер мен кластар көбірек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Күрделірек detection міндеті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EDA және HOG+SVM осы dataset-пен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988C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854"/>
                </a:solidFill>
                <a:latin typeface="Aptos Display"/>
              </a:defRPr>
            </a:pPr>
            <a:r>
              <a:t>3. Толық ML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828800"/>
            <a:ext cx="685800" cy="685800"/>
          </a:xfrm>
          <a:prstGeom prst="ellipse">
            <a:avLst/>
          </a:prstGeom>
          <a:solidFill>
            <a:srgbClr val="1C4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" y="2743200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C2026"/>
                </a:solidFill>
              </a:defRPr>
            </a:pPr>
            <a:r>
              <a:t>Dataset diagnostics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252728" y="1993392"/>
            <a:ext cx="1051560" cy="347472"/>
          </a:xfrm>
          <a:prstGeom prst="rightArrow">
            <a:avLst/>
          </a:prstGeom>
          <a:solidFill>
            <a:srgbClr val="498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23160" y="1828800"/>
            <a:ext cx="685800" cy="685800"/>
          </a:xfrm>
          <a:prstGeom prst="ellipse">
            <a:avLst/>
          </a:prstGeom>
          <a:solidFill>
            <a:srgbClr val="1C4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743200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C2026"/>
                </a:solidFill>
              </a:defRPr>
            </a:pPr>
            <a:r>
              <a:t>EDA + Feature Engineering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72968" y="1993392"/>
            <a:ext cx="1051560" cy="347472"/>
          </a:xfrm>
          <a:prstGeom prst="rightArrow">
            <a:avLst/>
          </a:prstGeom>
          <a:solidFill>
            <a:srgbClr val="498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1828800"/>
            <a:ext cx="685800" cy="685800"/>
          </a:xfrm>
          <a:prstGeom prst="ellipse">
            <a:avLst/>
          </a:prstGeom>
          <a:solidFill>
            <a:srgbClr val="1C4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743200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C2026"/>
                </a:solidFill>
              </a:defRPr>
            </a:pPr>
            <a:r>
              <a:t>HOG + SVM + GridSearch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93208" y="1993392"/>
            <a:ext cx="1051560" cy="347472"/>
          </a:xfrm>
          <a:prstGeom prst="rightArrow">
            <a:avLst/>
          </a:prstGeom>
          <a:solidFill>
            <a:srgbClr val="498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1828800"/>
            <a:ext cx="685800" cy="685800"/>
          </a:xfrm>
          <a:prstGeom prst="ellipse">
            <a:avLst/>
          </a:prstGeom>
          <a:solidFill>
            <a:srgbClr val="1C4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743200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C2026"/>
                </a:solidFill>
              </a:defRPr>
            </a:pPr>
            <a:r>
              <a:t>YOLOv5 / YOLOv10 validation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13448" y="1993392"/>
            <a:ext cx="1051560" cy="347472"/>
          </a:xfrm>
          <a:prstGeom prst="rightArrow">
            <a:avLst/>
          </a:prstGeom>
          <a:solidFill>
            <a:srgbClr val="498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3880" y="1828800"/>
            <a:ext cx="685800" cy="685800"/>
          </a:xfrm>
          <a:prstGeom prst="ellipse">
            <a:avLst/>
          </a:prstGeom>
          <a:solidFill>
            <a:srgbClr val="1C4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743200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C2026"/>
                </a:solidFill>
              </a:defRPr>
            </a:pPr>
            <a:r>
              <a:t>Interpretation + Business analysis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33688" y="1993392"/>
            <a:ext cx="1051560" cy="347472"/>
          </a:xfrm>
          <a:prstGeom prst="rightArrow">
            <a:avLst/>
          </a:prstGeom>
          <a:solidFill>
            <a:srgbClr val="498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04120" y="1828800"/>
            <a:ext cx="685800" cy="685800"/>
          </a:xfrm>
          <a:prstGeom prst="ellipse">
            <a:avLst/>
          </a:prstGeom>
          <a:solidFill>
            <a:srgbClr val="1C4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965960"/>
            <a:ext cx="685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743200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C2026"/>
                </a:solidFill>
              </a:defRPr>
            </a:pPr>
            <a:r>
              <a:t>Demo + Deployment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6634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Runtime YAML сыртқы ескі жолдарды автоматты түрде түзетеді.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Dataset файлдары көшірілмейді және өзгертілмейді.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988C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854"/>
                </a:solidFill>
                <a:latin typeface="Aptos Display"/>
              </a:defRPr>
            </a:pPr>
            <a:r>
              <a:t>4. EDA және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C2026"/>
                </a:solidFill>
                <a:latin typeface="Aptos"/>
              </a:defRPr>
            </a:pPr>
            <a:r>
              <a:t>Train/val суреттері мен YOLO label файлдарының сәйкестігін тексеру.</a:t>
            </a:r>
          </a:p>
          <a:p>
            <a:pPr>
              <a:spcAft>
                <a:spcPts val="1000"/>
              </a:spcAft>
              <a:defRPr sz="1900">
                <a:solidFill>
                  <a:srgbClr val="1C2026"/>
                </a:solidFill>
                <a:latin typeface="Aptos"/>
              </a:defRPr>
            </a:pPr>
            <a:r>
              <a:t>Класс бойынша объект саны және class imbalance ratio.</a:t>
            </a:r>
          </a:p>
          <a:p>
            <a:pPr>
              <a:spcAft>
                <a:spcPts val="1000"/>
              </a:spcAft>
              <a:defRPr sz="1900">
                <a:solidFill>
                  <a:srgbClr val="1C2026"/>
                </a:solidFill>
                <a:latin typeface="Aptos"/>
              </a:defRPr>
            </a:pPr>
            <a:r>
              <a:t>Bounding-box area және aspect ratio таралуы.</a:t>
            </a:r>
          </a:p>
          <a:p>
            <a:pPr>
              <a:spcAft>
                <a:spcPts val="1000"/>
              </a:spcAft>
              <a:defRPr sz="1900">
                <a:solidFill>
                  <a:srgbClr val="1C2026"/>
                </a:solidFill>
                <a:latin typeface="Aptos"/>
              </a:defRPr>
            </a:pPr>
            <a:r>
              <a:t>Сурет brightness және contrast статистикасы.</a:t>
            </a:r>
          </a:p>
          <a:p>
            <a:pPr>
              <a:spcAft>
                <a:spcPts val="1000"/>
              </a:spcAft>
              <a:defRPr sz="1900">
                <a:solidFill>
                  <a:srgbClr val="1C2026"/>
                </a:solidFill>
                <a:latin typeface="Aptos"/>
              </a:defRPr>
            </a:pPr>
            <a:r>
              <a:t>Image-level және bounding-box-level CSV кестелерін сақтау.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417320"/>
            <a:ext cx="2057400" cy="777240"/>
          </a:xfrm>
          <a:prstGeom prst="roundRect">
            <a:avLst/>
          </a:prstGeom>
          <a:solidFill>
            <a:srgbClr val="ECF5FC"/>
          </a:solidFill>
          <a:ln>
            <a:solidFill>
              <a:srgbClr val="498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79" y="1618488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4D8D"/>
                </a:solidFill>
              </a:defRPr>
            </a:pPr>
            <a:r>
              <a:t>bbox_area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59" y="1417320"/>
            <a:ext cx="2057400" cy="777240"/>
          </a:xfrm>
          <a:prstGeom prst="roundRect">
            <a:avLst/>
          </a:prstGeom>
          <a:solidFill>
            <a:srgbClr val="ECF5FC"/>
          </a:solidFill>
          <a:ln>
            <a:solidFill>
              <a:srgbClr val="498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72599" y="1618488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4D8D"/>
                </a:solidFill>
              </a:defRPr>
            </a:pPr>
            <a:r>
              <a:t>bbox_aspect_ratio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560320"/>
            <a:ext cx="2057400" cy="777240"/>
          </a:xfrm>
          <a:prstGeom prst="roundRect">
            <a:avLst/>
          </a:prstGeom>
          <a:solidFill>
            <a:srgbClr val="ECF5FC"/>
          </a:solidFill>
          <a:ln>
            <a:solidFill>
              <a:srgbClr val="498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79" y="2761488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4D8D"/>
                </a:solidFill>
              </a:defRPr>
            </a:pPr>
            <a:r>
              <a:t>brightness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59" y="2560320"/>
            <a:ext cx="2057400" cy="777240"/>
          </a:xfrm>
          <a:prstGeom prst="roundRect">
            <a:avLst/>
          </a:prstGeom>
          <a:solidFill>
            <a:srgbClr val="ECF5FC"/>
          </a:solidFill>
          <a:ln>
            <a:solidFill>
              <a:srgbClr val="498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599" y="2761488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4D8D"/>
                </a:solidFill>
              </a:defRPr>
            </a:pPr>
            <a:r>
              <a:t>contrast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703320"/>
            <a:ext cx="2057400" cy="777240"/>
          </a:xfrm>
          <a:prstGeom prst="roundRect">
            <a:avLst/>
          </a:prstGeom>
          <a:solidFill>
            <a:srgbClr val="ECF5FC"/>
          </a:solidFill>
          <a:ln>
            <a:solidFill>
              <a:srgbClr val="498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79" y="3904487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4D8D"/>
                </a:solidFill>
              </a:defRPr>
            </a:pPr>
            <a:r>
              <a:t>objects_count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988C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854"/>
                </a:solidFill>
                <a:latin typeface="Aptos Display"/>
              </a:defRPr>
            </a:pPr>
            <a:r>
              <a:t>5. Классикалық ML baseline: HOG + SVM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YOLO bounding box арқылы объект crop алынады.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Әр crop 96×96 grayscale форматқа өзгертіліп, HOG descriptor есептеледі.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LinearSVC үшін C ∈ {0.01, 0.1, 1, 10} GridSearchCV арқылы таңдалады.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Class-weight balancing және image-group train/test split қолданылады.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Интерпретация: коэффициент importance, permutation importance және SHAP.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417320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58191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854"/>
                </a:solidFill>
              </a:defRPr>
            </a:pPr>
            <a:r>
              <a:t>YOLO crop</a:t>
            </a:r>
          </a:p>
        </p:txBody>
      </p:sp>
      <p:sp>
        <p:nvSpPr>
          <p:cNvPr id="7" name="Down Arrow 6"/>
          <p:cNvSpPr/>
          <p:nvPr/>
        </p:nvSpPr>
        <p:spPr>
          <a:xfrm>
            <a:off x="8796528" y="2103120"/>
            <a:ext cx="548640" cy="347472"/>
          </a:xfrm>
          <a:prstGeom prst="downArrow">
            <a:avLst/>
          </a:prstGeom>
          <a:solidFill>
            <a:srgbClr val="498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43800" y="2514600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26791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854"/>
                </a:solidFill>
              </a:defRPr>
            </a:pPr>
            <a:r>
              <a:t>HOG vector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96528" y="3200400"/>
            <a:ext cx="548640" cy="347472"/>
          </a:xfrm>
          <a:prstGeom prst="downArrow">
            <a:avLst/>
          </a:prstGeom>
          <a:solidFill>
            <a:srgbClr val="498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3611880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77647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854"/>
                </a:solidFill>
              </a:defRPr>
            </a:pPr>
            <a:r>
              <a:t>StandardScaler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796528" y="4297680"/>
            <a:ext cx="548640" cy="347472"/>
          </a:xfrm>
          <a:prstGeom prst="downArrow">
            <a:avLst/>
          </a:prstGeom>
          <a:solidFill>
            <a:srgbClr val="498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4709159"/>
            <a:ext cx="3108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873751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2854"/>
                </a:solidFill>
              </a:defRPr>
            </a:pPr>
            <a:r>
              <a:t>LinearSVC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988C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854"/>
                </a:solidFill>
                <a:latin typeface="Aptos Display"/>
              </a:defRPr>
            </a:pPr>
            <a:r>
              <a:t>6. Алдын ала YOLO нәтижелері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C4D8D"/>
                </a:solidFill>
                <a:latin typeface="Aptos"/>
              </a:defRPr>
            </a:pPr>
            <a:r>
              <a:t>Метрикалар әр модельдің өз validation dataset-інде алынған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417320"/>
          <a:ext cx="65836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508760"/>
            <a:ext cx="4069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YOLOv10: Precision ≈ 0.989, Recall ≈ 0.984.</a:t>
            </a:r>
          </a:p>
          <a:p>
            <a:pPr>
              <a:spcAft>
                <a:spcPts val="10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YOLOv10: mAP50 ≈ 0.993, mAP50-95 ≈ 0.941.</a:t>
            </a:r>
          </a:p>
          <a:p>
            <a:pPr>
              <a:spcAft>
                <a:spcPts val="10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YOLOv5: mAP50 ≈ 0.995, mAP50-95 ≈ 0.871.</a:t>
            </a:r>
          </a:p>
          <a:p>
            <a:pPr>
              <a:spcAft>
                <a:spcPts val="10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Тікелей «архитектура жеңді» деп айтуға болмайды: dataset-тер әртүрлі.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988C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854"/>
                </a:solidFill>
                <a:latin typeface="Aptos Display"/>
              </a:defRPr>
            </a:pPr>
            <a:r>
              <a:t>7. ML метрикаларын бизнес KPI-мен байланыстыру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27048"/>
            <a:ext cx="17922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2026"/>
                </a:solidFill>
              </a:defRPr>
            </a:pPr>
            <a:r>
              <a:t>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25880"/>
            <a:ext cx="2926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98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52928" y="1527048"/>
            <a:ext cx="2706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C2026"/>
                </a:solidFill>
              </a:defRPr>
            </a:pPr>
            <a:r>
              <a:t>Missed hazard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25880"/>
            <a:ext cx="5669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16168" y="1527048"/>
            <a:ext cx="54498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C2026"/>
                </a:solidFill>
              </a:defRPr>
            </a:pPr>
            <a:r>
              <a:t>Қауіпті объектіні өткізіп алмау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670048"/>
            <a:ext cx="17922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2026"/>
                </a:solidFill>
              </a:defRPr>
            </a:pPr>
            <a: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468880"/>
            <a:ext cx="2926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98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670048"/>
            <a:ext cx="2706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C2026"/>
                </a:solidFill>
              </a:defRPr>
            </a:pPr>
            <a:r>
              <a:t>False alerts / 100 km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468880"/>
            <a:ext cx="5669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2670048"/>
            <a:ext cx="54498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C2026"/>
                </a:solidFill>
              </a:defRPr>
            </a:pPr>
            <a:r>
              <a:t>Жалған ескертулерді азайту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1188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813048"/>
            <a:ext cx="17922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2026"/>
                </a:solidFill>
              </a:defRPr>
            </a:pPr>
            <a:r>
              <a:t>Latency / FPS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611880"/>
            <a:ext cx="2926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98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3813048"/>
            <a:ext cx="2706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C2026"/>
                </a:solidFill>
              </a:defRPr>
            </a:pPr>
            <a:r>
              <a:t>Alert response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611880"/>
            <a:ext cx="5669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16168" y="3813048"/>
            <a:ext cx="54498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C2026"/>
                </a:solidFill>
              </a:defRPr>
            </a:pPr>
            <a:r>
              <a:t>Ескертуді уақытында шығару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54880"/>
            <a:ext cx="2011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956048"/>
            <a:ext cx="17922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C2026"/>
                </a:solidFill>
              </a:defRPr>
            </a:pPr>
            <a:r>
              <a:t>mAP50-95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754880"/>
            <a:ext cx="2926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498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2928" y="4956048"/>
            <a:ext cx="2706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C2026"/>
                </a:solidFill>
              </a:defRPr>
            </a:pPr>
            <a:r>
              <a:t>Localization stability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754880"/>
            <a:ext cx="5669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16168" y="4956048"/>
            <a:ext cx="54498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C2026"/>
                </a:solidFill>
              </a:defRPr>
            </a:pPr>
            <a:r>
              <a:t>Әртүрлі өлшемдегі объектілерді дәл табу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988C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854"/>
                </a:solidFill>
                <a:latin typeface="Aptos Display"/>
              </a:defRPr>
            </a:pPr>
            <a:r>
              <a:t>8. Шектеулер және deployment стратегиясы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Әртүрлі dataset → mAP мәндерін тікелей benchmark ретінде қолдануға болмайды.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Түн, жаңбыр, тұман, glare және motion blur бөлек тестіленуі керек.</a:t>
            </a:r>
          </a:p>
          <a:p>
            <a:pPr>
              <a:spcAft>
                <a:spcPts val="10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Сирек кластар мен domain shift өндірістік сапаны төмендетуі мүмкін.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029200" cy="822960"/>
          </a:xfrm>
          <a:prstGeom prst="roundRect">
            <a:avLst/>
          </a:prstGeom>
          <a:solidFill>
            <a:srgbClr val="ECF5FC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26463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C4D8D"/>
                </a:solidFill>
              </a:defRPr>
            </a:pPr>
            <a:r>
              <a:t>Desktop</a:t>
            </a:r>
          </a:p>
          <a:p>
            <a:pPr>
              <a:defRPr sz="1300">
                <a:solidFill>
                  <a:srgbClr val="1C2026"/>
                </a:solidFill>
              </a:defRPr>
            </a:pPr>
            <a:r>
              <a:t>Python + OpenCV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23160"/>
            <a:ext cx="5029200" cy="822960"/>
          </a:xfrm>
          <a:prstGeom prst="roundRect">
            <a:avLst/>
          </a:prstGeom>
          <a:solidFill>
            <a:srgbClr val="ECF5FC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569464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C4D8D"/>
                </a:solidFill>
              </a:defRPr>
            </a:pPr>
            <a:r>
              <a:t>Optimize</a:t>
            </a:r>
          </a:p>
          <a:p>
            <a:pPr>
              <a:defRPr sz="1300">
                <a:solidFill>
                  <a:srgbClr val="1C2026"/>
                </a:solidFill>
              </a:defRPr>
            </a:pPr>
            <a:r>
              <a:t>ONNX / TensorRT, FP16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566160"/>
            <a:ext cx="5029200" cy="822960"/>
          </a:xfrm>
          <a:prstGeom prst="roundRect">
            <a:avLst/>
          </a:prstGeom>
          <a:solidFill>
            <a:srgbClr val="ECF5FC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712463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C4D8D"/>
                </a:solidFill>
              </a:defRPr>
            </a:pPr>
            <a:r>
              <a:t>Edge</a:t>
            </a:r>
          </a:p>
          <a:p>
            <a:pPr>
              <a:defRPr sz="1300">
                <a:solidFill>
                  <a:srgbClr val="1C2026"/>
                </a:solidFill>
              </a:defRPr>
            </a:pPr>
            <a:r>
              <a:t>Jetson немесе жеңіл модель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709160"/>
            <a:ext cx="5029200" cy="822960"/>
          </a:xfrm>
          <a:prstGeom prst="roundRect">
            <a:avLst/>
          </a:prstGeom>
          <a:solidFill>
            <a:srgbClr val="ECF5FC"/>
          </a:solidFill>
          <a:ln>
            <a:solidFill>
              <a:srgbClr val="1C4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855464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C4D8D"/>
                </a:solidFill>
              </a:defRPr>
            </a:pPr>
            <a:r>
              <a:t>Monitor</a:t>
            </a:r>
          </a:p>
          <a:p>
            <a:pPr>
              <a:defRPr sz="1300">
                <a:solidFill>
                  <a:srgbClr val="1C2026"/>
                </a:solidFill>
              </a:defRPr>
            </a:pPr>
            <a:r>
              <a:t>FPS, confidence, false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988C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6400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ҚОРЫТЫНДЫ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Екі Deep Learning моделі және классикалық HOG+SVM baseline толық pipeline-де біріктірілді.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Әр YOLO моделі өзінің dataset-імен бағаланады; YOLOv10 dataset EDA және classical ML үшін қолданылады.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Runtime YAML ескі жол мәселесін шешіп, проектті қайта іске қосуға мүмкіндік береді.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Келесі қадам: common test set, night-data augmentation және TensorRT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EE1F8"/>
                </a:solidFill>
              </a:defRPr>
            </a:pPr>
            <a:r>
              <a:t>Сұрақтарыңызға рақмет!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